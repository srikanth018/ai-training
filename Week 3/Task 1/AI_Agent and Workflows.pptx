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Lexend Light"/>
      <p:regular r:id="rId13"/>
      <p:bold r:id="rId14"/>
    </p:embeddedFont>
    <p:embeddedFont>
      <p:font typeface="Lexend Medium"/>
      <p:regular r:id="rId15"/>
      <p:bold r:id="rId16"/>
    </p:embeddedFont>
    <p:embeddedFont>
      <p:font typeface="Lexen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126FD5-1655-4EFB-860C-6008705174DA}">
  <a:tblStyle styleId="{BD126FD5-1655-4EFB-860C-6008705174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LexendLight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LexendMedium-regular.fntdata"/><Relationship Id="rId14" Type="http://schemas.openxmlformats.org/officeDocument/2006/relationships/font" Target="fonts/LexendLight-bold.fntdata"/><Relationship Id="rId17" Type="http://schemas.openxmlformats.org/officeDocument/2006/relationships/font" Target="fonts/Lexend-regular.fntdata"/><Relationship Id="rId16" Type="http://schemas.openxmlformats.org/officeDocument/2006/relationships/font" Target="fonts/Lexend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Lexen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92cf8406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92cf8406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92cf8406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92cf8406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92cf8406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92cf8406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92cf8406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92cf8406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92cf8406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92cf8406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4800" y="4375950"/>
            <a:ext cx="1706954" cy="4833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246600" y="80550"/>
            <a:ext cx="69033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Predictable Workflow vs Dynamic Agent Design</a:t>
            </a:r>
            <a:endParaRPr sz="2200">
              <a:solidFill>
                <a:srgbClr val="1791B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266700" y="4210050"/>
            <a:ext cx="8372400" cy="0"/>
          </a:xfrm>
          <a:prstGeom prst="straightConnector1">
            <a:avLst/>
          </a:prstGeom>
          <a:noFill/>
          <a:ln cap="flat" cmpd="sng" w="9525">
            <a:solidFill>
              <a:srgbClr val="1791B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13"/>
          <p:cNvSpPr txBox="1"/>
          <p:nvPr/>
        </p:nvSpPr>
        <p:spPr>
          <a:xfrm>
            <a:off x="1897825" y="1300350"/>
            <a:ext cx="4843800" cy="1108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Department: </a:t>
            </a: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SaaS Billing &amp; Product Support</a:t>
            </a:r>
            <a:b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5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Use Case:</a:t>
            </a: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Handling customer billing &amp; product queries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4800" y="4375950"/>
            <a:ext cx="1706954" cy="4833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088100" y="122875"/>
            <a:ext cx="31668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Problem Context</a:t>
            </a:r>
            <a:endParaRPr sz="2200">
              <a:solidFill>
                <a:srgbClr val="1791B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4" name="Google Shape;64;p14"/>
          <p:cNvCxnSpPr/>
          <p:nvPr/>
        </p:nvCxnSpPr>
        <p:spPr>
          <a:xfrm>
            <a:off x="266700" y="4210050"/>
            <a:ext cx="8372400" cy="0"/>
          </a:xfrm>
          <a:prstGeom prst="straightConnector1">
            <a:avLst/>
          </a:prstGeom>
          <a:noFill/>
          <a:ln cap="flat" cmpd="sng" w="9525">
            <a:solidFill>
              <a:srgbClr val="1791B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/>
        </p:nvSpPr>
        <p:spPr>
          <a:xfrm>
            <a:off x="2387183" y="929925"/>
            <a:ext cx="4843800" cy="2385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●"/>
            </a:pP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Customers raise queries related to:</a:t>
            </a:r>
            <a:b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○"/>
            </a:pP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Billing</a:t>
            </a:r>
            <a:b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○"/>
            </a:pP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Product usage</a:t>
            </a:r>
            <a:b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○"/>
            </a:pP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Refunds &amp; payments</a:t>
            </a:r>
            <a:b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●"/>
            </a:pP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Traditional systems use fixed flows</a:t>
            </a:r>
            <a:b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●"/>
            </a:pP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Modern AI systems use agents with tools</a:t>
            </a:r>
            <a:endParaRPr sz="1700">
              <a:solidFill>
                <a:srgbClr val="1791B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4800" y="4375950"/>
            <a:ext cx="1706954" cy="4833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2561167" y="122875"/>
            <a:ext cx="52494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Workflow (Fixed Steps)</a:t>
            </a:r>
            <a:endParaRPr sz="2200">
              <a:solidFill>
                <a:srgbClr val="1791B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2" name="Google Shape;72;p15"/>
          <p:cNvCxnSpPr/>
          <p:nvPr/>
        </p:nvCxnSpPr>
        <p:spPr>
          <a:xfrm>
            <a:off x="266700" y="4210050"/>
            <a:ext cx="8372400" cy="0"/>
          </a:xfrm>
          <a:prstGeom prst="straightConnector1">
            <a:avLst/>
          </a:prstGeom>
          <a:noFill/>
          <a:ln cap="flat" cmpd="sng" w="9525">
            <a:solidFill>
              <a:srgbClr val="1791B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758575"/>
            <a:ext cx="8839204" cy="12732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550325" y="2476500"/>
            <a:ext cx="32808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 step is predefined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Routing logic is hard-coded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 runtime decision-making</a:t>
            </a:r>
            <a:endParaRPr sz="1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572000" y="2476499"/>
            <a:ext cx="32808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Limitations:</a:t>
            </a:r>
            <a:endParaRPr sz="1300">
              <a:solidFill>
                <a:srgbClr val="1791B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Fails for mixed queries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“I was charged twice AND the product didn’t work”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4800" y="4375950"/>
            <a:ext cx="1706954" cy="4833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2942171" y="101700"/>
            <a:ext cx="29739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Agent-Based Design</a:t>
            </a:r>
            <a:endParaRPr sz="2200">
              <a:solidFill>
                <a:srgbClr val="1791B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2" name="Google Shape;82;p16"/>
          <p:cNvCxnSpPr/>
          <p:nvPr/>
        </p:nvCxnSpPr>
        <p:spPr>
          <a:xfrm>
            <a:off x="266700" y="4210050"/>
            <a:ext cx="8372400" cy="0"/>
          </a:xfrm>
          <a:prstGeom prst="straightConnector1">
            <a:avLst/>
          </a:prstGeom>
          <a:noFill/>
          <a:ln cap="flat" cmpd="sng" w="9525">
            <a:solidFill>
              <a:srgbClr val="1791B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3" name="Google Shape;83;p16"/>
          <p:cNvPicPr preferRelativeResize="0"/>
          <p:nvPr/>
        </p:nvPicPr>
        <p:blipFill rotWithShape="1">
          <a:blip r:embed="rId4">
            <a:alphaModFix/>
          </a:blip>
          <a:srcRect b="9856" l="0" r="0" t="14386"/>
          <a:stretch/>
        </p:blipFill>
        <p:spPr>
          <a:xfrm>
            <a:off x="153463" y="740825"/>
            <a:ext cx="8837077" cy="15451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2762250" y="2487100"/>
            <a:ext cx="3968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rabicPeriod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Reasoner – understands intent &amp; context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rabicPeriod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Decision Maker – chooses which tools to use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rabicPeriod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Orchestrator – combines results into one response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4800" y="4375950"/>
            <a:ext cx="1706954" cy="4833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2942172" y="101700"/>
            <a:ext cx="3333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Comparison Sheet</a:t>
            </a:r>
            <a:endParaRPr sz="2200">
              <a:solidFill>
                <a:srgbClr val="1791B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" name="Google Shape;91;p17"/>
          <p:cNvCxnSpPr/>
          <p:nvPr/>
        </p:nvCxnSpPr>
        <p:spPr>
          <a:xfrm>
            <a:off x="266700" y="4210050"/>
            <a:ext cx="8372400" cy="0"/>
          </a:xfrm>
          <a:prstGeom prst="straightConnector1">
            <a:avLst/>
          </a:prstGeom>
          <a:noFill/>
          <a:ln cap="flat" cmpd="sng" w="9525">
            <a:solidFill>
              <a:srgbClr val="1791B9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92" name="Google Shape;92;p17"/>
          <p:cNvGraphicFramePr/>
          <p:nvPr/>
        </p:nvGraphicFramePr>
        <p:xfrm>
          <a:off x="952500" y="86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{BD126FD5-1655-4EFB-860C-6008705174DA}</a:tableStyleId>
              </a:tblPr>
              <a:tblGrid>
                <a:gridCol w="1936750"/>
                <a:gridCol w="2423575"/>
                <a:gridCol w="2878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791B9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Aspect</a:t>
                      </a:r>
                      <a:endParaRPr>
                        <a:solidFill>
                          <a:srgbClr val="1791B9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791B9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Workflow</a:t>
                      </a:r>
                      <a:endParaRPr>
                        <a:solidFill>
                          <a:srgbClr val="1791B9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791B9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Agent</a:t>
                      </a:r>
                      <a:endParaRPr>
                        <a:solidFill>
                          <a:srgbClr val="1791B9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Decision making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Rules</a:t>
                      </a:r>
                      <a:endParaRPr sz="12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Reasoning</a:t>
                      </a:r>
                      <a:endParaRPr sz="12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Path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Fixed</a:t>
                      </a:r>
                      <a:endParaRPr sz="12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Dynamic</a:t>
                      </a:r>
                      <a:endParaRPr sz="12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issues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Not works</a:t>
                      </a:r>
                      <a:endParaRPr sz="12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Works</a:t>
                      </a:r>
                      <a:endParaRPr sz="12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Best For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Known cases</a:t>
                      </a:r>
                      <a:endParaRPr sz="12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Complex reasoning</a:t>
                      </a:r>
                      <a:endParaRPr sz="12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4800" y="4375950"/>
            <a:ext cx="1706954" cy="483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266700" y="450950"/>
            <a:ext cx="28575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When to use Workflows</a:t>
            </a:r>
            <a:endParaRPr sz="1600">
              <a:solidFill>
                <a:srgbClr val="1791B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" name="Google Shape;99;p18"/>
          <p:cNvCxnSpPr/>
          <p:nvPr/>
        </p:nvCxnSpPr>
        <p:spPr>
          <a:xfrm>
            <a:off x="266700" y="4210050"/>
            <a:ext cx="8372400" cy="0"/>
          </a:xfrm>
          <a:prstGeom prst="straightConnector1">
            <a:avLst/>
          </a:prstGeom>
          <a:noFill/>
          <a:ln cap="flat" cmpd="sng" w="9525">
            <a:solidFill>
              <a:srgbClr val="1791B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8"/>
          <p:cNvSpPr txBox="1"/>
          <p:nvPr/>
        </p:nvSpPr>
        <p:spPr>
          <a:xfrm>
            <a:off x="423325" y="941908"/>
            <a:ext cx="2857500" cy="14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rabicPeriod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Steps are known in advance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rabicPeriod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Decisions can be expressed as if–else rules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rabicPeriod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Outcomes must be predictable and auditable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4927600" y="450950"/>
            <a:ext cx="28575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When to use AI Agent</a:t>
            </a:r>
            <a:endParaRPr sz="1600">
              <a:solidFill>
                <a:srgbClr val="1791B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5084225" y="941908"/>
            <a:ext cx="2857500" cy="14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rabicPeriod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Inputs are ambiguous or unstructured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rabicPeriod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 tools may be needed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rabicPeriod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Decision path is not fixed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355600" y="2409950"/>
            <a:ext cx="28575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Examples:</a:t>
            </a:r>
            <a:endParaRPr>
              <a:solidFill>
                <a:srgbClr val="1791B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423325" y="2749658"/>
            <a:ext cx="2857500" cy="14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rabicPeriod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Invoice generation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rabicPeriod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Subscription renewal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rabicPeriod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Payroll processing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5050363" y="2403592"/>
            <a:ext cx="28575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Examples:</a:t>
            </a:r>
            <a:endParaRPr>
              <a:solidFill>
                <a:srgbClr val="1791B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5118088" y="2743300"/>
            <a:ext cx="2857500" cy="14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rabicPeriod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Refund eligibility disputes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rabicPeriod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Complex billing explanations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rabicPeriod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Cross-product issues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