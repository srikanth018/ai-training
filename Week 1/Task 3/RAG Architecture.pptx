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Lexend Light"/>
      <p:regular r:id="rId11"/>
      <p:bold r:id="rId12"/>
    </p:embeddedFont>
    <p:embeddedFont>
      <p:font typeface="Lexend Medium"/>
      <p:regular r:id="rId13"/>
      <p:bold r:id="rId14"/>
    </p:embeddedFont>
    <p:embeddedFont>
      <p:font typeface="Lexend"/>
      <p:regular r:id="rId15"/>
      <p:bold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LexendLight-regular.fntdata"/><Relationship Id="rId10" Type="http://schemas.openxmlformats.org/officeDocument/2006/relationships/slide" Target="slides/slide5.xml"/><Relationship Id="rId13" Type="http://schemas.openxmlformats.org/officeDocument/2006/relationships/font" Target="fonts/LexendMedium-regular.fntdata"/><Relationship Id="rId12" Type="http://schemas.openxmlformats.org/officeDocument/2006/relationships/font" Target="fonts/LexendLight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Lexend-regular.fntdata"/><Relationship Id="rId14" Type="http://schemas.openxmlformats.org/officeDocument/2006/relationships/font" Target="fonts/LexendMedium-bold.fntdata"/><Relationship Id="rId16" Type="http://schemas.openxmlformats.org/officeDocument/2006/relationships/font" Target="fonts/Lexen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72d957cc07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72d957cc07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b6bdec283f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b6bdec283f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b6bdec283f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b6bdec283f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b6bdec283f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b6bdec283f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94800" y="4375950"/>
            <a:ext cx="1706954" cy="4833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2191425" y="80550"/>
            <a:ext cx="5958600" cy="4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1791B9"/>
                </a:solidFill>
                <a:latin typeface="Lexend"/>
                <a:ea typeface="Lexend"/>
                <a:cs typeface="Lexend"/>
                <a:sym typeface="Lexend"/>
              </a:rPr>
              <a:t>Retrieval-Augmented Generation (RAG) </a:t>
            </a:r>
            <a:endParaRPr sz="2200">
              <a:solidFill>
                <a:srgbClr val="1791B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512525" y="1602386"/>
            <a:ext cx="4134900" cy="14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1791B9"/>
                </a:solidFill>
                <a:latin typeface="Lexend"/>
                <a:ea typeface="Lexend"/>
                <a:cs typeface="Lexend"/>
                <a:sym typeface="Lexend"/>
              </a:rPr>
              <a:t>Challenges with LLM-only approach:</a:t>
            </a:r>
            <a:endParaRPr sz="1600">
              <a:solidFill>
                <a:srgbClr val="1791B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0" marL="5400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Light"/>
              <a:buChar char="●"/>
            </a:pPr>
            <a:r>
              <a:rPr lang="en-GB" sz="11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Cannot access internal or private PDF documents</a:t>
            </a:r>
            <a:br>
              <a:rPr lang="en-GB" sz="11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</a:br>
            <a:endParaRPr sz="11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298450" lvl="0" marL="5400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Light"/>
              <a:buChar char="●"/>
            </a:pPr>
            <a:r>
              <a:rPr lang="en-GB" sz="11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Limited context window for large documents</a:t>
            </a:r>
            <a:br>
              <a:rPr lang="en-GB" sz="11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</a:br>
            <a:endParaRPr sz="11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298450" lvl="0" marL="5400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Light"/>
              <a:buChar char="●"/>
            </a:pPr>
            <a:r>
              <a:rPr lang="en-GB" sz="11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Higher risk of hallucinated answers</a:t>
            </a:r>
            <a:endParaRPr sz="11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13716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cxnSp>
        <p:nvCxnSpPr>
          <p:cNvPr id="57" name="Google Shape;57;p13"/>
          <p:cNvCxnSpPr/>
          <p:nvPr/>
        </p:nvCxnSpPr>
        <p:spPr>
          <a:xfrm>
            <a:off x="266700" y="4210050"/>
            <a:ext cx="8372400" cy="0"/>
          </a:xfrm>
          <a:prstGeom prst="straightConnector1">
            <a:avLst/>
          </a:prstGeom>
          <a:noFill/>
          <a:ln cap="flat" cmpd="sng" w="9525">
            <a:solidFill>
              <a:srgbClr val="1791B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" name="Google Shape;58;p13"/>
          <p:cNvSpPr txBox="1"/>
          <p:nvPr/>
        </p:nvSpPr>
        <p:spPr>
          <a:xfrm>
            <a:off x="512525" y="890175"/>
            <a:ext cx="8319600" cy="7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32164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RAG (Retrieval-Augmented Generation) is a technique where a language model retrieves relevant external information and uses it to generate more accurate, context-aware responses.</a:t>
            </a:r>
            <a:endParaRPr sz="1200">
              <a:solidFill>
                <a:schemeClr val="dk2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4914647" y="1602375"/>
            <a:ext cx="4134900" cy="14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1791B9"/>
                </a:solidFill>
                <a:latin typeface="Lexend"/>
                <a:ea typeface="Lexend"/>
                <a:cs typeface="Lexend"/>
                <a:sym typeface="Lexend"/>
              </a:rPr>
              <a:t>What RAG Solves:</a:t>
            </a:r>
            <a:endParaRPr sz="1600">
              <a:solidFill>
                <a:srgbClr val="1791B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0" marL="5400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Light"/>
              <a:buChar char="●"/>
            </a:pPr>
            <a:r>
              <a:rPr lang="en-GB" sz="11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Connects LLMs with enterprise knowledge</a:t>
            </a:r>
            <a:br>
              <a:rPr lang="en-GB" sz="11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</a:br>
            <a:endParaRPr sz="11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298450" lvl="0" marL="5400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Light"/>
              <a:buChar char="●"/>
            </a:pPr>
            <a:r>
              <a:rPr lang="en-GB" sz="11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Retrieves relevant content before answering</a:t>
            </a:r>
            <a:br>
              <a:rPr lang="en-GB" sz="11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</a:br>
            <a:endParaRPr sz="11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298450" lvl="0" marL="5400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Light"/>
              <a:buChar char="●"/>
            </a:pPr>
            <a:r>
              <a:rPr lang="en-GB" sz="11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Produces grounded and accurate responses</a:t>
            </a:r>
            <a:endParaRPr sz="11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13716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13716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94800" y="4375950"/>
            <a:ext cx="1706954" cy="4833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 txBox="1"/>
          <p:nvPr/>
        </p:nvSpPr>
        <p:spPr>
          <a:xfrm>
            <a:off x="3087900" y="80550"/>
            <a:ext cx="3908400" cy="4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1791B9"/>
                </a:solidFill>
                <a:latin typeface="Lexend"/>
                <a:ea typeface="Lexend"/>
                <a:cs typeface="Lexend"/>
                <a:sym typeface="Lexend"/>
              </a:rPr>
              <a:t>RAG - Workflow Diagram</a:t>
            </a:r>
            <a:endParaRPr sz="2200">
              <a:solidFill>
                <a:srgbClr val="1791B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66" name="Google Shape;66;p14"/>
          <p:cNvCxnSpPr/>
          <p:nvPr/>
        </p:nvCxnSpPr>
        <p:spPr>
          <a:xfrm>
            <a:off x="266700" y="4210050"/>
            <a:ext cx="8372400" cy="0"/>
          </a:xfrm>
          <a:prstGeom prst="straightConnector1">
            <a:avLst/>
          </a:prstGeom>
          <a:noFill/>
          <a:ln cap="flat" cmpd="sng" w="9525">
            <a:solidFill>
              <a:srgbClr val="1791B9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67" name="Google Shape;67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9675" y="526375"/>
            <a:ext cx="4654827" cy="34803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4"/>
          <p:cNvSpPr txBox="1"/>
          <p:nvPr/>
        </p:nvSpPr>
        <p:spPr>
          <a:xfrm>
            <a:off x="4914650" y="1204975"/>
            <a:ext cx="4134900" cy="18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1791B9"/>
                </a:solidFill>
                <a:latin typeface="Lexend"/>
                <a:ea typeface="Lexend"/>
                <a:cs typeface="Lexend"/>
                <a:sym typeface="Lexend"/>
              </a:rPr>
              <a:t>Working of LLM with RAG</a:t>
            </a:r>
            <a:r>
              <a:rPr lang="en-GB" sz="1600">
                <a:solidFill>
                  <a:srgbClr val="1791B9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sz="1600">
              <a:solidFill>
                <a:srgbClr val="1791B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0" marL="4500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Light"/>
              <a:buChar char="●"/>
            </a:pPr>
            <a:r>
              <a:rPr lang="en-GB" sz="11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Documents are processed and indexed</a:t>
            </a:r>
            <a:br>
              <a:rPr lang="en-GB" sz="11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</a:br>
            <a:endParaRPr sz="11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298450" lvl="0" marL="4500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Light"/>
              <a:buChar char="●"/>
            </a:pPr>
            <a:r>
              <a:rPr lang="en-GB" sz="11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User question triggers semantic search</a:t>
            </a:r>
            <a:br>
              <a:rPr lang="en-GB" sz="11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</a:br>
            <a:endParaRPr sz="11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298450" lvl="0" marL="4500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Light"/>
              <a:buChar char="●"/>
            </a:pPr>
            <a:r>
              <a:rPr lang="en-GB" sz="11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Relevant context is retrieved</a:t>
            </a:r>
            <a:br>
              <a:rPr lang="en-GB" sz="11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</a:br>
            <a:endParaRPr sz="11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298450" lvl="0" marL="4500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Light"/>
              <a:buChar char="●"/>
            </a:pPr>
            <a:r>
              <a:rPr lang="en-GB" sz="11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LLM generates an answer using that context</a:t>
            </a:r>
            <a:endParaRPr sz="11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13716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13716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13716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94800" y="4375950"/>
            <a:ext cx="1706954" cy="48330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5"/>
          <p:cNvSpPr txBox="1"/>
          <p:nvPr/>
        </p:nvSpPr>
        <p:spPr>
          <a:xfrm>
            <a:off x="2191425" y="80550"/>
            <a:ext cx="4703400" cy="4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1791B9"/>
                </a:solidFill>
                <a:latin typeface="Lexend"/>
                <a:ea typeface="Lexend"/>
                <a:cs typeface="Lexend"/>
                <a:sym typeface="Lexend"/>
              </a:rPr>
              <a:t>Document Ingestion &amp; Indexing</a:t>
            </a:r>
            <a:endParaRPr sz="2200">
              <a:solidFill>
                <a:srgbClr val="1791B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2385450" y="1325067"/>
            <a:ext cx="4134900" cy="23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Light"/>
              <a:buChar char="●"/>
            </a:pPr>
            <a:r>
              <a:rPr lang="en-GB" sz="11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PDF files are read and text is extracted</a:t>
            </a:r>
            <a:br>
              <a:rPr lang="en-GB" sz="11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</a:br>
            <a:endParaRPr sz="11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Light"/>
              <a:buChar char="●"/>
            </a:pPr>
            <a:r>
              <a:rPr lang="en-GB" sz="11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Large documents are broken into small text pieces</a:t>
            </a:r>
            <a:br>
              <a:rPr lang="en-GB" sz="11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</a:br>
            <a:endParaRPr sz="11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Light"/>
              <a:buChar char="●"/>
            </a:pPr>
            <a:r>
              <a:rPr lang="en-GB" sz="11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Smaller chunks are easier for models to process</a:t>
            </a:r>
            <a:br>
              <a:rPr lang="en-GB" sz="11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</a:br>
            <a:endParaRPr sz="11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Light"/>
              <a:buChar char="●"/>
            </a:pPr>
            <a:r>
              <a:rPr lang="en-GB" sz="11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Each text chunk is converted into a numeric format</a:t>
            </a:r>
            <a:br>
              <a:rPr lang="en-GB" sz="11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</a:br>
            <a:endParaRPr sz="11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Light"/>
              <a:buChar char="●"/>
            </a:pPr>
            <a:r>
              <a:rPr lang="en-GB" sz="11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Data is stored in a vector database for fast search</a:t>
            </a:r>
            <a:endParaRPr sz="10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cxnSp>
        <p:nvCxnSpPr>
          <p:cNvPr id="76" name="Google Shape;76;p15"/>
          <p:cNvCxnSpPr/>
          <p:nvPr/>
        </p:nvCxnSpPr>
        <p:spPr>
          <a:xfrm>
            <a:off x="266700" y="4210050"/>
            <a:ext cx="8372400" cy="0"/>
          </a:xfrm>
          <a:prstGeom prst="straightConnector1">
            <a:avLst/>
          </a:prstGeom>
          <a:noFill/>
          <a:ln cap="flat" cmpd="sng" w="9525">
            <a:solidFill>
              <a:srgbClr val="1791B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7" name="Google Shape;77;p15"/>
          <p:cNvSpPr txBox="1"/>
          <p:nvPr/>
        </p:nvSpPr>
        <p:spPr>
          <a:xfrm>
            <a:off x="2258875" y="852700"/>
            <a:ext cx="40626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32164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1791B9"/>
                </a:solidFill>
                <a:latin typeface="Lexend Medium"/>
                <a:ea typeface="Lexend Medium"/>
                <a:cs typeface="Lexend Medium"/>
                <a:sym typeface="Lexend Medium"/>
              </a:rPr>
              <a:t>PDF → Chunks → Embeddings → Vector DB</a:t>
            </a:r>
            <a:endParaRPr sz="1200">
              <a:solidFill>
                <a:srgbClr val="1791B9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94800" y="4375950"/>
            <a:ext cx="1706954" cy="4833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/>
          <p:cNvSpPr txBox="1"/>
          <p:nvPr/>
        </p:nvSpPr>
        <p:spPr>
          <a:xfrm>
            <a:off x="2423773" y="80550"/>
            <a:ext cx="4703400" cy="4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1791B9"/>
                </a:solidFill>
                <a:latin typeface="Lexend"/>
                <a:ea typeface="Lexend"/>
                <a:cs typeface="Lexend"/>
                <a:sym typeface="Lexend"/>
              </a:rPr>
              <a:t>Query Handling &amp; Retrieval</a:t>
            </a:r>
            <a:endParaRPr sz="2200">
              <a:solidFill>
                <a:srgbClr val="1791B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" name="Google Shape;84;p16"/>
          <p:cNvSpPr txBox="1"/>
          <p:nvPr/>
        </p:nvSpPr>
        <p:spPr>
          <a:xfrm>
            <a:off x="2385450" y="1325067"/>
            <a:ext cx="4134900" cy="23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Light"/>
              <a:buChar char="●"/>
            </a:pPr>
            <a:r>
              <a:rPr lang="en-GB" sz="11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User submits a natural language question</a:t>
            </a:r>
            <a:br>
              <a:rPr lang="en-GB" sz="11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</a:br>
            <a:endParaRPr sz="11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Light"/>
              <a:buChar char="●"/>
            </a:pPr>
            <a:r>
              <a:rPr lang="en-GB" sz="11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Question is converted into an embedding</a:t>
            </a:r>
            <a:br>
              <a:rPr lang="en-GB" sz="11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</a:br>
            <a:endParaRPr sz="11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Light"/>
              <a:buChar char="●"/>
            </a:pPr>
            <a:r>
              <a:rPr lang="en-GB" sz="11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Similarity search performed on vector database</a:t>
            </a:r>
            <a:br>
              <a:rPr lang="en-GB" sz="11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</a:br>
            <a:endParaRPr sz="11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Light"/>
              <a:buChar char="●"/>
            </a:pPr>
            <a:r>
              <a:rPr lang="en-GB" sz="11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Top-K relevant chunks are selected</a:t>
            </a:r>
            <a:br>
              <a:rPr lang="en-GB" sz="11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</a:br>
            <a:endParaRPr sz="11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Light"/>
              <a:buChar char="●"/>
            </a:pPr>
            <a:r>
              <a:rPr lang="en-GB" sz="11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Only relevant information is retrieved</a:t>
            </a:r>
            <a:endParaRPr sz="11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cxnSp>
        <p:nvCxnSpPr>
          <p:cNvPr id="85" name="Google Shape;85;p16"/>
          <p:cNvCxnSpPr/>
          <p:nvPr/>
        </p:nvCxnSpPr>
        <p:spPr>
          <a:xfrm>
            <a:off x="266700" y="4210050"/>
            <a:ext cx="8372400" cy="0"/>
          </a:xfrm>
          <a:prstGeom prst="straightConnector1">
            <a:avLst/>
          </a:prstGeom>
          <a:noFill/>
          <a:ln cap="flat" cmpd="sng" w="9525">
            <a:solidFill>
              <a:srgbClr val="1791B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6" name="Google Shape;86;p16"/>
          <p:cNvSpPr txBox="1"/>
          <p:nvPr/>
        </p:nvSpPr>
        <p:spPr>
          <a:xfrm>
            <a:off x="2385450" y="852700"/>
            <a:ext cx="45093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32164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1791B9"/>
                </a:solidFill>
                <a:latin typeface="Lexend Medium"/>
                <a:ea typeface="Lexend Medium"/>
                <a:cs typeface="Lexend Medium"/>
                <a:sym typeface="Lexend Medium"/>
              </a:rPr>
              <a:t>User → Query embedding → Vector DB → Top-K chunks</a:t>
            </a:r>
            <a:endParaRPr sz="1200">
              <a:solidFill>
                <a:srgbClr val="1791B9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94800" y="4375950"/>
            <a:ext cx="1706954" cy="4833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7"/>
          <p:cNvSpPr txBox="1"/>
          <p:nvPr/>
        </p:nvSpPr>
        <p:spPr>
          <a:xfrm>
            <a:off x="3188274" y="80550"/>
            <a:ext cx="2945700" cy="4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1791B9"/>
                </a:solidFill>
                <a:latin typeface="Lexend"/>
                <a:ea typeface="Lexend"/>
                <a:cs typeface="Lexend"/>
                <a:sym typeface="Lexend"/>
              </a:rPr>
              <a:t>LLMs Final Desicion</a:t>
            </a:r>
            <a:endParaRPr sz="2200">
              <a:solidFill>
                <a:srgbClr val="1791B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7"/>
          <p:cNvSpPr txBox="1"/>
          <p:nvPr/>
        </p:nvSpPr>
        <p:spPr>
          <a:xfrm>
            <a:off x="2385450" y="1325067"/>
            <a:ext cx="4134900" cy="23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Light"/>
              <a:buChar char="●"/>
            </a:pPr>
            <a:r>
              <a:rPr lang="en-GB" sz="11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Retrieved chunks are injected into the prompt</a:t>
            </a:r>
            <a:br>
              <a:rPr lang="en-GB" sz="11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</a:br>
            <a:endParaRPr sz="11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Light"/>
              <a:buChar char="●"/>
            </a:pPr>
            <a:r>
              <a:rPr lang="en-GB" sz="11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LLM is instructed to answer using provided context</a:t>
            </a:r>
            <a:br>
              <a:rPr lang="en-GB" sz="11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</a:br>
            <a:endParaRPr sz="11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 Light"/>
              <a:buChar char="●"/>
            </a:pPr>
            <a:r>
              <a:rPr lang="en-GB" sz="11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Final response is Generated</a:t>
            </a:r>
            <a:endParaRPr sz="11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cxnSp>
        <p:nvCxnSpPr>
          <p:cNvPr id="94" name="Google Shape;94;p17"/>
          <p:cNvCxnSpPr/>
          <p:nvPr/>
        </p:nvCxnSpPr>
        <p:spPr>
          <a:xfrm>
            <a:off x="266700" y="4210050"/>
            <a:ext cx="8372400" cy="0"/>
          </a:xfrm>
          <a:prstGeom prst="straightConnector1">
            <a:avLst/>
          </a:prstGeom>
          <a:noFill/>
          <a:ln cap="flat" cmpd="sng" w="9525">
            <a:solidFill>
              <a:srgbClr val="1791B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5" name="Google Shape;95;p17"/>
          <p:cNvSpPr txBox="1"/>
          <p:nvPr/>
        </p:nvSpPr>
        <p:spPr>
          <a:xfrm>
            <a:off x="2603650" y="852700"/>
            <a:ext cx="42912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32164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1791B9"/>
                </a:solidFill>
                <a:latin typeface="Lexend Medium"/>
                <a:ea typeface="Lexend Medium"/>
                <a:cs typeface="Lexend Medium"/>
                <a:sym typeface="Lexend Medium"/>
              </a:rPr>
              <a:t>Retrieved Context + User Question → LLM → Answer</a:t>
            </a:r>
            <a:endParaRPr sz="1200">
              <a:solidFill>
                <a:srgbClr val="1791B9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